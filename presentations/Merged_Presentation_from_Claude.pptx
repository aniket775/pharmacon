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777E1-0010-FF85-76E1-67813A3ED840}" v="86" dt="2026-08-09T13:16:03.739"/>
    <p1510:client id="{201EC552-33C6-3FDD-CEF3-18FA65CDFEC7}" v="3" dt="2026-08-09T17:29:28.534"/>
    <p1510:client id="{3B18BCE8-241E-A09B-A08F-D266F9818A44}" v="25" dt="2026-08-09T08:55:55.545"/>
    <p1510:client id="{BBE86094-DE4E-ED97-B9A1-1409C3F8CBD4}" v="180" dt="2026-08-09T09:13:10.872"/>
    <p1510:client id="{F0CE35EA-C604-86B0-E114-CA7524231FE9}" v="257" dt="2026-08-09T13:07:22.237"/>
    <p1510:client id="{F4FCF59D-3D2A-DB52-2BC7-9EBBA5CA0CF9}" v="235" dt="2026-08-09T12:54:11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/>
          <p:nvPr/>
        </p:nvSpPr>
        <p:spPr>
          <a:xfrm>
            <a:off x="457200" y="1828800"/>
            <a:ext cx="10788868" cy="13716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400" b="1"/>
              <a:t>Software Engineering Project Ideas</a:t>
            </a:r>
          </a:p>
        </p:txBody>
      </p:sp>
      <p:sp>
        <p:nvSpPr>
          <p:cNvPr id="3" name="Subtitle 2"/>
          <p:cNvSpPr/>
          <p:nvPr/>
        </p:nvSpPr>
        <p:spPr>
          <a:xfrm>
            <a:off x="457200" y="3026979"/>
            <a:ext cx="8229600" cy="228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/>
              <a:t>Amitesh Kr. Singh</a:t>
            </a:r>
          </a:p>
          <a:p>
            <a:r>
              <a:rPr lang="en-US" sz="2800"/>
              <a:t>Aniket Raj</a:t>
            </a:r>
          </a:p>
          <a:p>
            <a:r>
              <a:rPr lang="en-US" sz="2800"/>
              <a:t>Chirag Lamba</a:t>
            </a:r>
          </a:p>
          <a:p>
            <a:r>
              <a:rPr lang="en-US" sz="2800"/>
              <a:t>Aryan Kashyap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46450" y="581109"/>
            <a:ext cx="2434769" cy="4308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200"/>
              <a:t>1. Problem &amp; Users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44273" y="1145365"/>
            <a:ext cx="4303123" cy="18979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sz="1200"/>
              <a:t>• Large repositories contain hundreds of files.</a:t>
            </a:r>
            <a:endParaRPr lang="en-US" sz="12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sz="1200"/>
              <a:t>• Developers need to manually navigate files, documentation and dependencies.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sz="1200" dirty="0"/>
              <a:t>• Keyword search finds matching </a:t>
            </a:r>
            <a:r>
              <a:rPr sz="1200" err="1"/>
              <a:t>words, but</a:t>
            </a:r>
            <a:r>
              <a:rPr lang="en-US" sz="1200"/>
              <a:t> not logic</a:t>
            </a:r>
            <a:r>
              <a:rPr sz="1200"/>
              <a:t>.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sz="1200"/>
              <a:t>• Documentation may be incomplete or outdated.</a:t>
            </a:r>
            <a:endParaRPr sz="12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r>
              <a:rPr sz="1200"/>
              <a:t>• Users: </a:t>
            </a:r>
            <a:r>
              <a:rPr sz="1200" b="1"/>
              <a:t>developers </a:t>
            </a:r>
            <a:r>
              <a:rPr sz="1200"/>
              <a:t>onboarding to projects, </a:t>
            </a:r>
            <a:r>
              <a:rPr sz="1200" b="1"/>
              <a:t>students </a:t>
            </a:r>
            <a:r>
              <a:rPr sz="1200"/>
              <a:t>learning from open-source repositories</a:t>
            </a:r>
            <a:r>
              <a:rPr lang="en-US" sz="1200" dirty="0"/>
              <a:t> </a:t>
            </a:r>
            <a:r>
              <a:rPr lang="en-US" sz="1200"/>
              <a:t>etc.</a:t>
            </a:r>
            <a:endParaRPr sz="120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0F448F-2DC5-E4FD-14CC-54A877000886}"/>
              </a:ext>
            </a:extLst>
          </p:cNvPr>
          <p:cNvSpPr txBox="1"/>
          <p:nvPr/>
        </p:nvSpPr>
        <p:spPr>
          <a:xfrm>
            <a:off x="583850" y="3619913"/>
            <a:ext cx="3279488" cy="78483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200"/>
              <a:t>2. What We Will Do Better</a:t>
            </a:r>
            <a:endParaRPr lang="en-US" sz="22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defRPr sz="2800" b="1">
                <a:solidFill>
                  <a:srgbClr val="1E232A"/>
                </a:solidFill>
              </a:defRPr>
            </a:pPr>
            <a:endParaRPr lang="en-US" sz="2300" dirty="0">
              <a:ea typeface="Calibri"/>
              <a:cs typeface="Calibri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8029FE84-F87C-7A5A-9414-024063481A57}"/>
              </a:ext>
            </a:extLst>
          </p:cNvPr>
          <p:cNvSpPr/>
          <p:nvPr/>
        </p:nvSpPr>
        <p:spPr>
          <a:xfrm>
            <a:off x="679343" y="4208040"/>
            <a:ext cx="1961156" cy="413020"/>
          </a:xfrm>
          <a:prstGeom prst="roundRect">
            <a:avLst/>
          </a:prstGeom>
          <a:solidFill>
            <a:srgbClr val="E5EBF4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1E232A"/>
                </a:solidFill>
              </a:defRPr>
            </a:pPr>
            <a:r>
              <a:rPr sz="1500"/>
              <a:t>Traditional approach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7C89D00C-3930-A08E-C007-344600DC16AA}"/>
              </a:ext>
            </a:extLst>
          </p:cNvPr>
          <p:cNvSpPr/>
          <p:nvPr/>
        </p:nvSpPr>
        <p:spPr>
          <a:xfrm>
            <a:off x="3131932" y="4208041"/>
            <a:ext cx="1945391" cy="413020"/>
          </a:xfrm>
          <a:prstGeom prst="roundRect">
            <a:avLst/>
          </a:prstGeom>
          <a:solidFill>
            <a:srgbClr val="E5EBF4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1E232A"/>
                </a:solidFill>
              </a:defRPr>
            </a:pPr>
            <a:r>
              <a:rPr lang="en-US" sz="1500"/>
              <a:t>Our approach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D69ED0-C603-12AB-F78C-03833D730187}"/>
              </a:ext>
            </a:extLst>
          </p:cNvPr>
          <p:cNvSpPr txBox="1"/>
          <p:nvPr/>
        </p:nvSpPr>
        <p:spPr>
          <a:xfrm>
            <a:off x="586214" y="4671923"/>
            <a:ext cx="2667000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/>
              <a:t>• Keyword search</a:t>
            </a:r>
            <a:endParaRPr lang="en-US"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/>
              <a:t>• Open many files manually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/>
              <a:t>• Read documentation separately</a:t>
            </a:r>
            <a:endParaRPr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/>
              <a:t>• Understand relationships yourself</a:t>
            </a:r>
            <a:endParaRPr sz="13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C7206-E7F8-45E4-98FE-3A002D831A1B}"/>
              </a:ext>
            </a:extLst>
          </p:cNvPr>
          <p:cNvSpPr txBox="1"/>
          <p:nvPr/>
        </p:nvSpPr>
        <p:spPr>
          <a:xfrm>
            <a:off x="3133396" y="4671923"/>
            <a:ext cx="2667000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Natural-language questions</a:t>
            </a:r>
            <a:endParaRPr lang="en-US"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Semantic retrieval of relevant code</a:t>
            </a:r>
            <a:endParaRPr lang="en-US"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Repository-aware context</a:t>
            </a:r>
            <a:endParaRPr lang="en-US" sz="130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LLM-generated explanation</a:t>
            </a:r>
            <a:endParaRPr lang="en-US" sz="13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BEB6DD-AAA3-0BA9-9A4E-131CA8421A43}"/>
              </a:ext>
            </a:extLst>
          </p:cNvPr>
          <p:cNvSpPr txBox="1"/>
          <p:nvPr/>
        </p:nvSpPr>
        <p:spPr>
          <a:xfrm>
            <a:off x="89188" y="1252196"/>
            <a:ext cx="5114110" cy="575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3800" b="1">
                <a:solidFill>
                  <a:srgbClr val="1E232A"/>
                </a:solidFill>
              </a:defRPr>
            </a:pPr>
            <a:r>
              <a:rPr sz="3000" i="1"/>
              <a:t>GitHub Repository Explainer</a:t>
            </a:r>
            <a:endParaRPr lang="en-US" sz="3000" i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9099CD-4181-7CFF-CE53-6B62F1B70746}"/>
              </a:ext>
            </a:extLst>
          </p:cNvPr>
          <p:cNvSpPr txBox="1"/>
          <p:nvPr/>
        </p:nvSpPr>
        <p:spPr>
          <a:xfrm>
            <a:off x="376572" y="1915135"/>
            <a:ext cx="4371703" cy="61555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2000">
                <a:solidFill>
                  <a:srgbClr val="5A626C"/>
                </a:solidFill>
              </a:defRPr>
            </a:pPr>
            <a:r>
              <a:rPr sz="1700" i="1"/>
              <a:t>A distributed AI system for understanding and querying large codebases</a:t>
            </a:r>
            <a:endParaRPr lang="en-US" sz="1700" i="1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64FF2F-7507-4966-58BE-5948C56D32A3}"/>
              </a:ext>
            </a:extLst>
          </p:cNvPr>
          <p:cNvSpPr txBox="1"/>
          <p:nvPr/>
        </p:nvSpPr>
        <p:spPr>
          <a:xfrm>
            <a:off x="6149077" y="3756922"/>
            <a:ext cx="3883884" cy="8156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200"/>
              <a:t>3. Ranking — Why This Project?</a:t>
            </a:r>
            <a:endParaRPr lang="en-US" sz="22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defRPr sz="2800" b="1">
                <a:solidFill>
                  <a:srgbClr val="1E232A"/>
                </a:solidFill>
              </a:defRPr>
            </a:pPr>
            <a:endParaRPr lang="en-US" sz="2500" dirty="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E091AB-F173-B6B9-4CA6-25D414F91805}"/>
              </a:ext>
            </a:extLst>
          </p:cNvPr>
          <p:cNvSpPr txBox="1"/>
          <p:nvPr/>
        </p:nvSpPr>
        <p:spPr>
          <a:xfrm>
            <a:off x="6145398" y="4372303"/>
            <a:ext cx="4866291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sz="1300">
                <a:ea typeface="+mn-lt"/>
                <a:cs typeface="+mn-lt"/>
              </a:rPr>
              <a:t>Solves codebase understanding for large, unfamiliar repositories. </a:t>
            </a:r>
            <a:endParaRPr lang="en-US"/>
          </a:p>
          <a:p>
            <a:pPr marL="285750" indent="-285750">
              <a:buFont typeface="Arial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sz="1300">
                <a:ea typeface="+mn-lt"/>
                <a:cs typeface="+mn-lt"/>
              </a:rPr>
              <a:t>Combines backend, databases, vector search and distributed processing. </a:t>
            </a:r>
            <a:endParaRPr lang="en-US"/>
          </a:p>
          <a:p>
            <a:pPr marL="285750" indent="-285750">
              <a:buFont typeface="Arial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sz="1300">
                <a:ea typeface="+mn-lt"/>
                <a:cs typeface="+mn-lt"/>
              </a:rPr>
              <a:t>Demonstrates asynchronous workers and queue-based task handling. </a:t>
            </a:r>
            <a:endParaRPr lang="en-US"/>
          </a:p>
          <a:p>
            <a:pPr marL="285750" indent="-285750">
              <a:buFont typeface="Arial"/>
              <a:buChar char="•"/>
              <a:defRPr sz="1700">
                <a:solidFill>
                  <a:srgbClr val="1E232A"/>
                </a:solidFill>
              </a:defRPr>
            </a:pPr>
            <a:r>
              <a:rPr lang="en-US" sz="1300">
                <a:ea typeface="+mn-lt"/>
                <a:cs typeface="+mn-lt"/>
              </a:rPr>
              <a:t>Realistic scope using existing AI models/APIs instead of training from scratch. </a:t>
            </a:r>
            <a:endParaRPr lang="en-US"/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</a:defRPr>
            </a:pPr>
            <a:endParaRPr lang="en-US" sz="13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475549" cy="4308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200"/>
              <a:t>3. Proposed System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9783" y="981892"/>
            <a:ext cx="1316083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User /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35778" y="905691"/>
            <a:ext cx="1305198" cy="429987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Node.js + Express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3929" y="954678"/>
            <a:ext cx="1316083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GitHub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15494" y="954677"/>
            <a:ext cx="1321526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Redis +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78832" y="954678"/>
            <a:ext cx="1316083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Workers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9586" y="952500"/>
            <a:ext cx="1444535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Parse + Chunk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73146" y="979716"/>
            <a:ext cx="1444535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Embeddings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4234" y="1741715"/>
            <a:ext cx="1444535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Vector 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90857" y="1743892"/>
            <a:ext cx="1567543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LLM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3715" y="1758044"/>
            <a:ext cx="1883229" cy="283029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232A"/>
                </a:solidFill>
              </a:defRPr>
            </a:pPr>
            <a:r>
              <a:t>Answer + Source Files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28323B-52A3-5935-396A-8C8E27ECBAFA}"/>
              </a:ext>
            </a:extLst>
          </p:cNvPr>
          <p:cNvCxnSpPr/>
          <p:nvPr/>
        </p:nvCxnSpPr>
        <p:spPr>
          <a:xfrm>
            <a:off x="1759405" y="1122589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9DF60E-99B6-1945-B00F-D2CC9D93DB8F}"/>
              </a:ext>
            </a:extLst>
          </p:cNvPr>
          <p:cNvCxnSpPr>
            <a:cxnSpLocks/>
          </p:cNvCxnSpPr>
          <p:nvPr/>
        </p:nvCxnSpPr>
        <p:spPr>
          <a:xfrm>
            <a:off x="3365048" y="1089932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BB66A8-1F2D-B06B-ED70-615FEEE50A75}"/>
              </a:ext>
            </a:extLst>
          </p:cNvPr>
          <p:cNvCxnSpPr>
            <a:cxnSpLocks/>
          </p:cNvCxnSpPr>
          <p:nvPr/>
        </p:nvCxnSpPr>
        <p:spPr>
          <a:xfrm>
            <a:off x="4948919" y="1089931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BA3716-2AC5-6116-FD63-9B7053CFE100}"/>
              </a:ext>
            </a:extLst>
          </p:cNvPr>
          <p:cNvCxnSpPr>
            <a:cxnSpLocks/>
          </p:cNvCxnSpPr>
          <p:nvPr/>
        </p:nvCxnSpPr>
        <p:spPr>
          <a:xfrm>
            <a:off x="6592661" y="1089931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C250E2-0526-811B-7272-93CFA1B775E4}"/>
              </a:ext>
            </a:extLst>
          </p:cNvPr>
          <p:cNvCxnSpPr>
            <a:cxnSpLocks/>
          </p:cNvCxnSpPr>
          <p:nvPr/>
        </p:nvCxnSpPr>
        <p:spPr>
          <a:xfrm>
            <a:off x="8296276" y="1089932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1D8F577-A471-845C-A6F5-C692E56BBE86}"/>
              </a:ext>
            </a:extLst>
          </p:cNvPr>
          <p:cNvCxnSpPr>
            <a:cxnSpLocks/>
          </p:cNvCxnSpPr>
          <p:nvPr/>
        </p:nvCxnSpPr>
        <p:spPr>
          <a:xfrm>
            <a:off x="10108747" y="1057275"/>
            <a:ext cx="364670" cy="10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3D70827-B609-3FF7-11D2-7C32806B6A83}"/>
              </a:ext>
            </a:extLst>
          </p:cNvPr>
          <p:cNvCxnSpPr/>
          <p:nvPr/>
        </p:nvCxnSpPr>
        <p:spPr>
          <a:xfrm flipH="1">
            <a:off x="11133365" y="1243694"/>
            <a:ext cx="10885" cy="506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10938F-BBAA-9B0E-A712-904C79CF243C}"/>
              </a:ext>
            </a:extLst>
          </p:cNvPr>
          <p:cNvCxnSpPr/>
          <p:nvPr/>
        </p:nvCxnSpPr>
        <p:spPr>
          <a:xfrm flipH="1" flipV="1">
            <a:off x="10057040" y="1892755"/>
            <a:ext cx="468085" cy="16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5479B21-B3B8-A43D-B06A-D898E6CC87F8}"/>
              </a:ext>
            </a:extLst>
          </p:cNvPr>
          <p:cNvCxnSpPr>
            <a:cxnSpLocks/>
          </p:cNvCxnSpPr>
          <p:nvPr/>
        </p:nvCxnSpPr>
        <p:spPr>
          <a:xfrm flipH="1" flipV="1">
            <a:off x="8059511" y="1892755"/>
            <a:ext cx="468085" cy="163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D6E3392-A750-AB8B-A443-A5F41524B846}"/>
              </a:ext>
            </a:extLst>
          </p:cNvPr>
          <p:cNvSpPr txBox="1"/>
          <p:nvPr/>
        </p:nvSpPr>
        <p:spPr>
          <a:xfrm>
            <a:off x="594359" y="2856412"/>
            <a:ext cx="3204532" cy="43088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GB" sz="2200"/>
              <a:t>4. Validation &amp; Evaluation</a:t>
            </a:r>
            <a:endParaRPr lang="en-US" sz="22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0A40F-CFE9-0EC2-94AA-E58054E6399C}"/>
              </a:ext>
            </a:extLst>
          </p:cNvPr>
          <p:cNvSpPr txBox="1"/>
          <p:nvPr/>
        </p:nvSpPr>
        <p:spPr>
          <a:xfrm>
            <a:off x="592183" y="3529149"/>
            <a:ext cx="3971108" cy="20774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 dirty="0"/>
              <a:t>• Use existing repository-level QA benchmarks such as </a:t>
            </a:r>
            <a:r>
              <a:rPr lang="en-US" sz="1300" dirty="0" err="1"/>
              <a:t>CodeRepoQA</a:t>
            </a:r>
            <a:r>
              <a:rPr sz="1300" dirty="0"/>
              <a:t> for </a:t>
            </a:r>
            <a:r>
              <a:rPr lang="en-US" sz="1300" dirty="0"/>
              <a:t>validation</a:t>
            </a:r>
            <a:r>
              <a:rPr sz="1300" dirty="0"/>
              <a:t>.</a:t>
            </a:r>
            <a:endParaRPr lang="en-US" sz="1300" dirty="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 dirty="0"/>
              <a:t>• Retrieval evaluation: </a:t>
            </a:r>
            <a:r>
              <a:rPr sz="1300" dirty="0" err="1"/>
              <a:t>Recall@K</a:t>
            </a:r>
            <a:r>
              <a:rPr sz="1300" dirty="0"/>
              <a:t>, </a:t>
            </a:r>
            <a:r>
              <a:rPr sz="1300" dirty="0" err="1"/>
              <a:t>Precision@K</a:t>
            </a:r>
            <a:r>
              <a:rPr sz="1300" dirty="0"/>
              <a:t> </a:t>
            </a:r>
            <a:r>
              <a:rPr lang="en-US" sz="1300" dirty="0"/>
              <a:t>.</a:t>
            </a:r>
            <a:endParaRPr sz="1300" dirty="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 dirty="0"/>
              <a:t>• Answer evaluation: correctness, completeness, </a:t>
            </a:r>
            <a:r>
              <a:rPr sz="1300" dirty="0" err="1"/>
              <a:t>groundedness</a:t>
            </a:r>
            <a:r>
              <a:rPr sz="1300" dirty="0"/>
              <a:t> and source-file accuracy.</a:t>
            </a:r>
            <a:endParaRPr sz="1300" dirty="0"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sz="1300"/>
              <a:t>• System evaluation: processing time, query latency, failure rate and behavior on repositories of different sizes.</a:t>
            </a:r>
            <a:endParaRPr sz="1300" dirty="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CFB796-018E-F135-2FE4-3C81AF1C5FEA}"/>
              </a:ext>
            </a:extLst>
          </p:cNvPr>
          <p:cNvSpPr txBox="1"/>
          <p:nvPr/>
        </p:nvSpPr>
        <p:spPr>
          <a:xfrm>
            <a:off x="5068389" y="2856412"/>
            <a:ext cx="3617529" cy="8156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1E232A"/>
                </a:solidFill>
              </a:defRPr>
            </a:pPr>
            <a:r>
              <a:rPr lang="en-US" sz="2200"/>
              <a:t>5. Feasibility, Risks &amp; Fallback</a:t>
            </a:r>
            <a:endParaRPr lang="en-US" sz="22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defRPr sz="2800" b="1">
                <a:solidFill>
                  <a:srgbClr val="1E232A"/>
                </a:solidFill>
              </a:defRPr>
            </a:pPr>
            <a:endParaRPr lang="en-US" sz="2500" dirty="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E9C4E6-A383-4641-08E1-5ABF0C2F5D89}"/>
              </a:ext>
            </a:extLst>
          </p:cNvPr>
          <p:cNvSpPr txBox="1"/>
          <p:nvPr/>
        </p:nvSpPr>
        <p:spPr>
          <a:xfrm>
            <a:off x="5049883" y="3431177"/>
            <a:ext cx="6485709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Feasible because no large model needs to be trained from scratch.</a:t>
            </a:r>
            <a:endParaRPr lang="en-US" sz="1300">
              <a:solidFill>
                <a:srgbClr val="1E232A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Large repositories → asynchronous workers, chunking, caching and incremental processing.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LLM hallucinations → ground responses in retrieved repository code and show source references.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Unsupported languages/files → begin with common languages and fall back to text-based chunking.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Private repositories → authenticated GitHub access; do not persist user credentials.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r>
              <a:rPr lang="en-US" sz="1300"/>
              <a:t>• Fallback: repository structure, file search and semantic code retrieval remain useful even if LLM generation is unavailable.</a:t>
            </a:r>
            <a:endParaRPr lang="en-US" sz="130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</a:defRPr>
            </a:pPr>
            <a:endParaRPr sz="13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Lost &amp; Found Matcher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matching layer for the college's existing Lost &amp; Found workflow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items go through a working office process, but the update is broadcast and passive — every student gets every email, so most are easy to miss.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one-directional: only a found item triggers anything. If you've lost something, there's no way to register it, and no record to search later.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63640" y="1874520"/>
            <a:ext cx="5440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b="1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Students: </a:t>
            </a: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a way to register and search for lost items.</a:t>
            </a:r>
            <a:endParaRPr lang="en-US" sz="115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50" b="1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staff: </a:t>
            </a: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record found items and manually compose mass emails.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11247120" cy="30632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Do Better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can register a lost item from anywhere.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Finders keep doing exactly what they do today — hand the item to the office. No app, no extra process for them.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staff log found items through an admin panel, replacing manual mass-email composition.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privately ranks possible matches using image similarity, text similarity, category, location and date — then notifies only relevant students.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result: students find matches faster through targeted alerts instead of scanning broadcast emails — reducing missed matches caused by generic, office-written descriptions.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solidFill>
            <a:srgbClr val="1F4A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6355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ranks potential matches. The office verifies ownership and remains the sole authority for releasing the item.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Works, Validation &amp; Feasibility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F4F7F6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6648" y="9601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74392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F4F7F6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4392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53840" y="9601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1584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F4F7F6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1584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71032" y="9601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F4F7F6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08776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88224" y="9601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5968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F4F7F6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5968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805416" y="96012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43160" y="960120"/>
            <a:ext cx="1661160" cy="777240"/>
          </a:xfrm>
          <a:prstGeom prst="roundRect">
            <a:avLst>
              <a:gd name="adj" fmla="val 9412"/>
            </a:avLst>
          </a:prstGeom>
          <a:solidFill>
            <a:srgbClr val="1F4A44"/>
          </a:solidFill>
          <a:ln w="12700">
            <a:solidFill>
              <a:srgbClr val="C8D2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43160" y="960120"/>
            <a:ext cx="1661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19659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ranks.  Office verifies.  Office releases.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2606040"/>
            <a:ext cx="3596640" cy="39776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2743200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&amp; Safeguards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1792" y="3108960"/>
            <a:ext cx="32674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registers a lost item using college-email login.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Office: logs found items, sole custodian, final authority for release.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Finders: never need to use the app directly.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claimants: all candidates surfaced for office review — never auto-resolved.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custody: no peer-to-peer handover — exchange stays at the office.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4282440" y="2606040"/>
            <a:ext cx="3596640" cy="39776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5" name="Text 23"/>
          <p:cNvSpPr/>
          <p:nvPr/>
        </p:nvSpPr>
        <p:spPr>
          <a:xfrm>
            <a:off x="4447032" y="2743200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&amp; Validation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447032" y="3108960"/>
            <a:ext cx="32674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React + Node/Express + MongoDB, following our team website's admin/API structure — tools our team already knows, plus one new integration (hosted embedding API).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CLIP embeddings for image similarity; separate text embeddings + cosine similarity for descriptions.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Privacy: images used only for similarity embeddings; sensitive personal info not intentionally submitted.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tests: correct match in Top 3; unrelated items excluded; duplicates flagged.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checks: a few classmates stage real lost/found reports to confirm the flow makes sense from a student's side, not just that the algorithm scores well.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vs. keyword-search baseline (15-20 item set) and vs. current broadcast-email process. Target: ≥70% Top-3 accuracy — a course-project target, not a production benchmark.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107680" y="2606040"/>
            <a:ext cx="3596640" cy="39776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8" name="Text 26"/>
          <p:cNvSpPr/>
          <p:nvPr/>
        </p:nvSpPr>
        <p:spPr>
          <a:xfrm>
            <a:off x="8272272" y="2743200"/>
            <a:ext cx="3267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Risks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72272" y="3108960"/>
            <a:ext cx="3267456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start: no historical data required — matching improves as reports accumulate; we'll seed real/staged cases for the demo.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Adoption: needs staff to log found items via the admin panel — we'll simulate this role for the course project.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board: shows only limited, non-sensitive lost-item info (category, approx. location, date, short description).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Verification: match alerts never authorize collection — claimant provides a hidden detail; office makes the final call.</a:t>
            </a:r>
            <a:endParaRPr lang="en-US" sz="9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80" dirty="0">
                <a:solidFill>
                  <a:srgbClr val="1F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even if similarity ranking underperforms, the system still works as a searchable, filterable lost-item board — already an improvement over broadcast email alone.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00960" y="-228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Problem &amp; Users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529560" y="685800"/>
            <a:ext cx="9071640" cy="468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/>
          <a:p>
            <a:pPr indent="0" algn="l">
              <a:buNone/>
            </a:pP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Problems: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Patients on multiple medications don't know safe intake sequences, which to take together, which need gaps, how long between two drugs.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Alarms are dumb because they only remind when but not in what order, and can easily be turned off and forgotten.</a:t>
            </a:r>
          </a:p>
          <a:p>
            <a:pPr indent="0" algn="l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Critical Medications getting missed like that of diabetes can cause health crisis.</a:t>
            </a:r>
          </a:p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Drug collisions are invisible to the majority. Who knows that calcium blocks iron or Thyroid meds clash with antacids.</a:t>
            </a:r>
          </a:p>
          <a:p>
            <a:pPr indent="0" algn="l">
              <a:buNone/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Supplement users have no way to know if their daily stack conflicts.</a:t>
            </a:r>
          </a:p>
          <a:p>
            <a:pPr indent="0" algn="l">
              <a:buNone/>
            </a:pPr>
            <a:br>
              <a:rPr sz="2200"/>
            </a:br>
            <a:r>
              <a:rPr lang="en-US" sz="2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Users: 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Patients on multiple daily medications.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Health conscious supplement users.</a:t>
            </a:r>
            <a:br>
              <a:rPr sz="2200"/>
            </a:b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Caregivers needing automated escalation.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/>
          <p:cNvGraphicFramePr/>
          <p:nvPr/>
        </p:nvGraphicFramePr>
        <p:xfrm>
          <a:off x="134640" y="1219320"/>
          <a:ext cx="9757440" cy="3270960"/>
        </p:xfrm>
        <a:graphic>
          <a:graphicData uri="http://schemas.openxmlformats.org/drawingml/2006/table">
            <a:tbl>
              <a:tblPr/>
              <a:tblGrid>
                <a:gridCol w="48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Traditional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Our Approach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Manual alarm(s) for medicines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Auto sequenced intake reminders/notifications; system computes the intake timeline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Absolutely no collision checking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Offline SQL interaction database; verified rules from DrugBank/OpenFDA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Silent Medication Failures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Multi-tier escalation, critical missed doses alert family/caretakers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If not alarms, otherwise internet-dependent apps.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PWA with offline-first architecture to function fully without network, especially for notifying purposes.</a:t>
                      </a:r>
                    </a:p>
                  </a:txBody>
                  <a:tcPr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86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will we do Better?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446360"/>
            <a:ext cx="8915400" cy="1223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Expected Results: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Collision free intake schedules generated per user's medication list.</a:t>
            </a: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Caretakers notified within safety window when critical doses are missed.</a:t>
            </a:r>
          </a:p>
          <a:p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Users know what to take when, not just when to take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Proposed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946440"/>
            <a:ext cx="1828800" cy="359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Patients/Users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1828800"/>
            <a:ext cx="1828800" cy="882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Progressive Web 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3200400"/>
            <a:ext cx="1828800" cy="685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Constraint 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55560" y="3200400"/>
            <a:ext cx="1502640" cy="6858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SQL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72000"/>
            <a:ext cx="1828800" cy="457200"/>
          </a:xfrm>
          <a:prstGeom prst="rect">
            <a:avLst/>
          </a:prstGeom>
          <a:blipFill rotWithShape="0">
            <a:blip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Schedule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572000"/>
            <a:ext cx="1828800" cy="457200"/>
          </a:xfrm>
          <a:prstGeom prst="rect">
            <a:avLst/>
          </a:prstGeom>
          <a:blipFill rotWithShape="0">
            <a:blip/>
            <a:stretch/>
          </a:blip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Caregiver Alerts</a:t>
            </a:r>
          </a:p>
        </p:txBody>
      </p:sp>
      <p:sp>
        <p:nvSpPr>
          <p:cNvPr id="25" name="Straight Connector 24"/>
          <p:cNvSpPr/>
          <p:nvPr/>
        </p:nvSpPr>
        <p:spPr>
          <a:xfrm>
            <a:off x="5029200" y="1306080"/>
            <a:ext cx="0" cy="5227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traight Connector 25"/>
          <p:cNvSpPr/>
          <p:nvPr/>
        </p:nvSpPr>
        <p:spPr>
          <a:xfrm>
            <a:off x="5029200" y="2677680"/>
            <a:ext cx="0" cy="52272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traight Connector 26"/>
          <p:cNvSpPr/>
          <p:nvPr/>
        </p:nvSpPr>
        <p:spPr>
          <a:xfrm>
            <a:off x="5029200" y="3886200"/>
            <a:ext cx="0" cy="6858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traight Connector 27"/>
          <p:cNvSpPr/>
          <p:nvPr/>
        </p:nvSpPr>
        <p:spPr>
          <a:xfrm>
            <a:off x="5942520" y="3461400"/>
            <a:ext cx="101412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traight Connector 28"/>
          <p:cNvSpPr/>
          <p:nvPr/>
        </p:nvSpPr>
        <p:spPr>
          <a:xfrm>
            <a:off x="5843880" y="4800600"/>
            <a:ext cx="1014120" cy="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ctr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We Will Validate It</a:t>
            </a: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415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0000" lnSpcReduction="19999"/>
          </a:bodyPr>
          <a:lstStyle/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Functional tests: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known drug combinations produce correct collision gaps.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missed Tier-1 dose triggers caregiver alert within 30 min.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scheduler works offline with network disabled.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 Testing: 5-10 classmates given a sample medication list, they use the app and answer: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did the schedule make sense?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was it easy to follow? 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Caretaker flow tested: does the alert reach the right person with the right information?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criteria: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Collision-free schedules for 90%+ of test input sets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Escalation triggers within the defined safety window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 offline functionality, no network call during scheduling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 task completion rate &gt; 80%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Feasability &amp; Risk</a:t>
            </a: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143000"/>
            <a:ext cx="9325800" cy="4159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0" algn="l">
              <a:spcBef>
                <a:spcPts val="1417"/>
              </a:spcBef>
              <a:buNone/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Technical feasibility: </a:t>
            </a:r>
            <a:br>
              <a:rPr sz="6600"/>
            </a:b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React PWA + local SQL (IndexedDB), tools the team knows or is learning, well-documented, free tier deployable.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8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feasibility: </a:t>
            </a:r>
            <a:br>
              <a:rPr sz="8000"/>
            </a:b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NLP extraction from DrugBank Open + team verification gate, manageable scope (~100 verified rules for common drug pairs.)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Risks:</a:t>
            </a:r>
            <a:endParaRPr lang="en-US" sz="6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Medical safety: schedule is advisory, not prescriptive; app displays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disclaimer, never replaces doctor's instructions.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Wrong extraction: all NLP extracted rules must pass team verification;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 no unverified rule enters the database.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Missed escalation: if network is down, caretaker alert is delayed, system stores missed alerts locally and retries when online.</a:t>
            </a:r>
          </a:p>
          <a:p>
            <a:pPr marL="432000" indent="0" algn="l">
              <a:spcBef>
                <a:spcPts val="1417"/>
              </a:spcBef>
              <a:buNone/>
            </a:pPr>
            <a:r>
              <a:rPr lang="en-US" sz="6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• Scope creep: build core scheduler + ruleset first, add features only if core is solid.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Ranking- Why This?</a:t>
            </a: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93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/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Solves a real, everyday problem.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Core Engineering Differentiator: Constraint based scheduler that computes safe intake sequnces, not just reminders.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Offline first PWA architecture meets most user’s needs too.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Team owns the SQL data and rules, no external API dependency for critical functionality.</a:t>
            </a:r>
          </a:p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Fully demonstrable end-to-end in a live walkthrough.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32A"/>
                </a:solidFill>
              </a:rPr>
              <a:t>Thapar Academic Review Portal — Software Grid (1 of 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5510632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96696"/>
            <a:ext cx="510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1.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344168"/>
            <a:ext cx="51082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Roles: Member 1 – Frontend/UI, Member 2 – Backend/Database, Member 3 – Testing &amp; Documentation, Member 4 – Integration &amp; Deployment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Strengths: web development, database management, UI/UX design, software testing, documentation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Constraints: limited development time, limited experience with production systems, no access to real university exam systems, must protect student data privacy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To learn: Git/GitHub collaboration, authentication, database design, API/workflow design, testing, deployment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223864" y="868680"/>
            <a:ext cx="5510632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5032" y="996696"/>
            <a:ext cx="510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2. Problem &amp;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25032" y="1344168"/>
            <a:ext cx="5108296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Students away from campus struggle to request their evaluated answer sheet or raise a rechecking concern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The existing process often needs a physical visit or repeated email follow-up with the department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Requests are hard to track — students don't know if a concern was seen, is under review, or resolved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Question-specific concerns get lost in general email threads instead of being tied to a request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Users: students requesting review, faculty reviewing assigned cases, admin/academic staff managing courses, exams and users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575304"/>
            <a:ext cx="5510632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703320"/>
            <a:ext cx="510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3. What We Will Do Better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4032504"/>
            <a:ext cx="1629613" cy="310896"/>
          </a:xfrm>
          <a:prstGeom prst="roundRect">
            <a:avLst>
              <a:gd name="adj" fmla="val 14706"/>
            </a:avLst>
          </a:prstGeom>
          <a:solidFill>
            <a:srgbClr val="E5EBF4"/>
          </a:solidFill>
          <a:ln w="12700">
            <a:solidFill>
              <a:srgbClr val="E5EB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032504"/>
            <a:ext cx="16296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32A"/>
                </a:solidFill>
              </a:rPr>
              <a:t>Traditional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4416552"/>
            <a:ext cx="1629613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Find dept/faculty, email or visit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Wait, then follow up again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97709" y="4032504"/>
            <a:ext cx="1629613" cy="310896"/>
          </a:xfrm>
          <a:prstGeom prst="roundRect">
            <a:avLst>
              <a:gd name="adj" fmla="val 14706"/>
            </a:avLst>
          </a:prstGeom>
          <a:solidFill>
            <a:srgbClr val="E5EBF4"/>
          </a:solidFill>
          <a:ln w="12700">
            <a:solidFill>
              <a:srgbClr val="E5EB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97709" y="4032504"/>
            <a:ext cx="16296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32A"/>
                </a:solidFill>
              </a:rPr>
              <a:t>Our approach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97709" y="4416552"/>
            <a:ext cx="1629613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Submit online request with ID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Track status, raise concerns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37050" y="4032504"/>
            <a:ext cx="1629613" cy="310896"/>
          </a:xfrm>
          <a:prstGeom prst="roundRect">
            <a:avLst>
              <a:gd name="adj" fmla="val 14706"/>
            </a:avLst>
          </a:prstGeom>
          <a:solidFill>
            <a:srgbClr val="E5EBF4"/>
          </a:solidFill>
          <a:ln w="12700">
            <a:solidFill>
              <a:srgbClr val="E5EB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7050" y="4032504"/>
            <a:ext cx="162961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32A"/>
                </a:solidFill>
              </a:rPr>
              <a:t>Expected result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37050" y="4416552"/>
            <a:ext cx="1629613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Transparent tracking</a:t>
            </a:r>
            <a:endParaRPr lang="en-US" sz="8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850" dirty="0">
                <a:solidFill>
                  <a:srgbClr val="3A4249"/>
                </a:solidFill>
              </a:rPr>
              <a:t>Faster, accountable resolution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23864" y="3575304"/>
            <a:ext cx="5510632" cy="2542032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5032" y="3703320"/>
            <a:ext cx="5108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4. Proposed System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979179" y="4361688"/>
            <a:ext cx="914" cy="91440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161124" y="4745736"/>
            <a:ext cx="1818056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9179" y="4745736"/>
            <a:ext cx="914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9179" y="4745736"/>
            <a:ext cx="1818056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61124" y="5239512"/>
            <a:ext cx="1818056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79179" y="5239512"/>
            <a:ext cx="914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8979179" y="5239512"/>
            <a:ext cx="1818056" cy="201168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8064779" y="5733288"/>
            <a:ext cx="914400" cy="182880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79179" y="5733288"/>
            <a:ext cx="914400" cy="182880"/>
          </a:xfrm>
          <a:prstGeom prst="line">
            <a:avLst/>
          </a:prstGeom>
          <a:noFill/>
          <a:ln w="12700">
            <a:solidFill>
              <a:srgbClr val="2D5C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0519" y="406908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0519" y="4069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Students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270519" y="445312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70519" y="445312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E232A"/>
                </a:solidFill>
              </a:rPr>
              <a:t>Web Application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43904" y="4946904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43904" y="4946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Auth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361959" y="4946904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1959" y="4946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180015" y="4946904"/>
            <a:ext cx="12344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80015" y="4946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32A"/>
                </a:solidFill>
              </a:rPr>
              <a:t>Notifications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270519" y="544068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70519" y="5440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Database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287539" y="5916168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87539" y="5916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Faculty Portal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16339" y="5916168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5EB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16339" y="59161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32A"/>
                </a:solidFill>
              </a:rPr>
              <a:t>Admin Portal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6C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32A"/>
                </a:solidFill>
              </a:rPr>
              <a:t>Thapar Academic Review Portal — Software Grid (2 of 2)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588410" cy="539496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14984"/>
            <a:ext cx="318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5. How We Will Validate It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399032"/>
            <a:ext cx="318607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Functional testing: login/invalid login, request submission generates a Request ID, missing fields blocked, deadline enforcement, status transitions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User testing: a few students trial the prototype — was it easy to understand, submit without help, and track status?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Evaluation criteria: successful submission rate, average time to submit, user satisfaction, correctness of status transitions, access-control correctness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01642" y="868680"/>
            <a:ext cx="3588410" cy="539496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2810" y="1014984"/>
            <a:ext cx="318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6. Feasibility &amp;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02810" y="1399032"/>
            <a:ext cx="318607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Technical feasibility: React + Firebase, or Flask + SQLite — both common, well-documented stacks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Economic feasibility: prototype built with free/open-source tools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Operational feasibility: students, faculty and admin access it through a browser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Risk — privacy: role-based access (student → own records, faculty → assigned requests, admin → management)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Risk — unauthorized access: authentication + authorization rules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Risk — incorrect marks update: only authorized faculty/admin can update marks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Risk — system failure: official university process remains as fallback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A4249"/>
                </a:solidFill>
              </a:rPr>
              <a:t>Risk — scope creep: build the MVP first, add extras only if time allows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46085" y="868680"/>
            <a:ext cx="3588410" cy="5394960"/>
          </a:xfrm>
          <a:prstGeom prst="roundRect">
            <a:avLst>
              <a:gd name="adj" fmla="val 1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47253" y="1014984"/>
            <a:ext cx="31860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32A"/>
                </a:solidFill>
              </a:rPr>
              <a:t>7. Ranking — Why This Idea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47253" y="1399032"/>
            <a:ext cx="3186074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Addresses a real, currently unmet student problem — not a duplicate of Webkiosk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Clearly defined users: students, faculty and admin, each with distinct roles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Practical impact: fewer physical visits, less repetitive email follow-up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Technically feasible with simple, well-known web technologies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Strong Software Engineering component: requirements, roles, workflow, database design, testing, risk analysis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A4249"/>
                </a:solidFill>
              </a:rPr>
              <a:t>Easily and fully demonstrable end-to-end in a live walkthrough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26C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Problem &amp; Users</vt:lpstr>
      <vt:lpstr>What will we do Better?</vt:lpstr>
      <vt:lpstr>Proposed System</vt:lpstr>
      <vt:lpstr>How We Will Validate It</vt:lpstr>
      <vt:lpstr>Feasability &amp; Risk</vt:lpstr>
      <vt:lpstr>Ranking- Why This?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231</cp:revision>
  <dcterms:created xsi:type="dcterms:W3CDTF">2013-01-27T09:14:16Z</dcterms:created>
  <dcterms:modified xsi:type="dcterms:W3CDTF">2026-08-09T17:30:26Z</dcterms:modified>
  <cp:category/>
</cp:coreProperties>
</file>